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35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85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9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87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793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411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29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23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62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0864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54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3667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71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54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78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D3512-649D-41E1-BA38-93F9E468360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6C203B6-4930-4B00-A1F8-CC873389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75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B9735-2250-82AA-4990-CA0FF7B9C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883" y="998014"/>
            <a:ext cx="8887690" cy="125383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/>
              <a:t>California Housing Price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996F4-B190-B604-0069-EE0288061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0687" y="2970178"/>
            <a:ext cx="7766936" cy="168494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Presented By: Muhammad Osama</a:t>
            </a:r>
          </a:p>
        </p:txBody>
      </p:sp>
      <p:pic>
        <p:nvPicPr>
          <p:cNvPr id="1030" name="Picture 6" descr="House Price Prediction — Data Science Project guide 1 | by Laxmi Kumari |  Medium">
            <a:extLst>
              <a:ext uri="{FF2B5EF4-FFF2-40B4-BE49-F238E27FC236}">
                <a16:creationId xmlns:a16="http://schemas.microsoft.com/office/drawing/2014/main" id="{4FB3006D-588F-4EE1-15E1-0E0BC33CF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708" y="3851564"/>
            <a:ext cx="5985165" cy="3006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7992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5EB54-003E-DA5D-C2BE-3027A07E7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02054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E968F-7E47-9A13-E791-FB74D86E9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350" y="1745673"/>
            <a:ext cx="9466262" cy="4165549"/>
          </a:xfrm>
        </p:spPr>
        <p:txBody>
          <a:bodyPr>
            <a:normAutofit/>
          </a:bodyPr>
          <a:lstStyle/>
          <a:p>
            <a:r>
              <a:rPr lang="en-US" sz="2000" b="1" dirty="0"/>
              <a:t>Objective: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Predict median house values using geographic, economic, and demographic features.</a:t>
            </a:r>
          </a:p>
          <a:p>
            <a:r>
              <a:rPr lang="en-US" sz="2000" b="1" dirty="0"/>
              <a:t>Dataset:</a:t>
            </a:r>
          </a:p>
          <a:p>
            <a:pPr marL="685800" lvl="1"/>
            <a:r>
              <a:rPr lang="en-US" sz="2000" dirty="0">
                <a:solidFill>
                  <a:srgbClr val="404040"/>
                </a:solidFill>
                <a:latin typeface="DeepSeek-CJK-patch"/>
              </a:rPr>
              <a:t>Source: 1990 U.S. Census.</a:t>
            </a:r>
          </a:p>
          <a:p>
            <a:pPr marL="685800" lvl="1"/>
            <a:r>
              <a:rPr lang="en-US" sz="2000" dirty="0">
                <a:solidFill>
                  <a:srgbClr val="404040"/>
                </a:solidFill>
                <a:latin typeface="DeepSeek-CJK-patch"/>
              </a:rPr>
              <a:t>Size: 20,640 entries, 10 features.</a:t>
            </a:r>
          </a:p>
          <a:p>
            <a:r>
              <a:rPr lang="en-US" sz="2000" b="1" dirty="0"/>
              <a:t>Key Features</a:t>
            </a:r>
            <a:r>
              <a:rPr lang="en-US" sz="2000" dirty="0"/>
              <a:t>: </a:t>
            </a:r>
            <a:r>
              <a:rPr lang="en-US" sz="2000" dirty="0" err="1">
                <a:solidFill>
                  <a:srgbClr val="404040"/>
                </a:solidFill>
                <a:latin typeface="DeepSeek-CJK-patch"/>
              </a:rPr>
              <a:t>median_income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, </a:t>
            </a:r>
            <a:r>
              <a:rPr lang="en-US" sz="2000" dirty="0" err="1">
                <a:solidFill>
                  <a:srgbClr val="404040"/>
                </a:solidFill>
                <a:latin typeface="DeepSeek-CJK-patch"/>
              </a:rPr>
              <a:t>ocean_proximity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, </a:t>
            </a:r>
            <a:r>
              <a:rPr lang="en-US" sz="2000" dirty="0" err="1">
                <a:solidFill>
                  <a:srgbClr val="404040"/>
                </a:solidFill>
                <a:latin typeface="DeepSeek-CJK-patch"/>
              </a:rPr>
              <a:t>total_rooms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, geographic coordinates.</a:t>
            </a:r>
          </a:p>
          <a:p>
            <a:r>
              <a:rPr lang="en-US" sz="2000" b="1" dirty="0"/>
              <a:t>Importance: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Real-world application for real estate pricing and policy-making.</a:t>
            </a:r>
          </a:p>
        </p:txBody>
      </p:sp>
    </p:spTree>
    <p:extLst>
      <p:ext uri="{BB962C8B-B14F-4D97-AF65-F5344CB8AC3E}">
        <p14:creationId xmlns:p14="http://schemas.microsoft.com/office/powerpoint/2010/main" val="238324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58179-31AA-EC1B-DC10-D77E57160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85BED-527F-7EF5-DF08-E5607E104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51061"/>
            <a:ext cx="8911687" cy="1020540"/>
          </a:xfrm>
        </p:spPr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CD689-5C96-D84C-41A2-7A9D99EF3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350" y="1371601"/>
            <a:ext cx="9466262" cy="4539622"/>
          </a:xfrm>
        </p:spPr>
        <p:txBody>
          <a:bodyPr>
            <a:normAutofit/>
          </a:bodyPr>
          <a:lstStyle/>
          <a:p>
            <a:r>
              <a:rPr lang="en-US" sz="2000" b="1" dirty="0"/>
              <a:t>Importing Libraries: 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Importing all necessary libraries</a:t>
            </a:r>
          </a:p>
          <a:p>
            <a:r>
              <a:rPr lang="en-US" sz="2000" b="1" dirty="0"/>
              <a:t>Missing Values: 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Dropped rows with missing </a:t>
            </a:r>
            <a:r>
              <a:rPr lang="en-US" sz="2000" dirty="0" err="1">
                <a:solidFill>
                  <a:srgbClr val="404040"/>
                </a:solidFill>
                <a:latin typeface="DeepSeek-CJK-patch"/>
              </a:rPr>
              <a:t>total_bedrooms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.</a:t>
            </a:r>
          </a:p>
          <a:p>
            <a:r>
              <a:rPr lang="en-US" sz="2000" b="1" dirty="0"/>
              <a:t>Duplicates: 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Removed duplicates.</a:t>
            </a:r>
          </a:p>
          <a:p>
            <a:r>
              <a:rPr lang="en-US" sz="2000" b="1" dirty="0"/>
              <a:t>Encoding: 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One-hot encoded </a:t>
            </a:r>
            <a:r>
              <a:rPr lang="en-US" sz="2000" dirty="0" err="1">
                <a:solidFill>
                  <a:srgbClr val="404040"/>
                </a:solidFill>
                <a:latin typeface="DeepSeek-CJK-patch"/>
              </a:rPr>
              <a:t>ocean_proximity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 into 5 binary columns.</a:t>
            </a:r>
          </a:p>
          <a:p>
            <a:r>
              <a:rPr lang="en-US" sz="2000" b="1" dirty="0"/>
              <a:t>Train Test Split: 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80% training, 20% testing.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99D2DF-6EAA-6E20-FE33-037E50373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3588326"/>
            <a:ext cx="9466262" cy="326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95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979A7-F2A1-EEC2-689F-47727EF92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2371-D045-5E85-A471-6EA7F337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020540"/>
          </a:xfrm>
        </p:spPr>
        <p:txBody>
          <a:bodyPr/>
          <a:lstStyle/>
          <a:p>
            <a:r>
              <a:rPr lang="en-US" dirty="0"/>
              <a:t>Correlation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7FF69-4F14-F77A-8155-EC012ACA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350" y="1371601"/>
            <a:ext cx="9466262" cy="4539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404040"/>
                </a:solidFill>
                <a:latin typeface="DeepSeek-CJK-patch"/>
              </a:rPr>
              <a:t>Correlation measures the statistical relationship between two variables, indicating the strength their linear relationship, ranging from -1 to +1 with 0 indicating no linear relationship</a:t>
            </a:r>
          </a:p>
          <a:p>
            <a:r>
              <a:rPr lang="en-US" sz="2000" b="1" dirty="0"/>
              <a:t>Strong Positive Correlation: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 </a:t>
            </a:r>
            <a:r>
              <a:rPr lang="en-US" sz="2000" dirty="0" err="1">
                <a:solidFill>
                  <a:srgbClr val="404040"/>
                </a:solidFill>
                <a:latin typeface="DeepSeek-CJK-patch"/>
              </a:rPr>
              <a:t>median_income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: +0.69</a:t>
            </a:r>
          </a:p>
          <a:p>
            <a:pPr lvl="1"/>
            <a:r>
              <a:rPr lang="en-US" sz="2000" dirty="0">
                <a:solidFill>
                  <a:srgbClr val="404040"/>
                </a:solidFill>
                <a:latin typeface="DeepSeek-CJK-patch"/>
              </a:rPr>
              <a:t>Higher income strongly predicts higher house prices.</a:t>
            </a:r>
          </a:p>
          <a:p>
            <a:r>
              <a:rPr lang="en-US" sz="2000" b="1" dirty="0"/>
              <a:t>Negative Correlation: </a:t>
            </a:r>
            <a:r>
              <a:rPr lang="en-US" sz="2000" dirty="0" err="1">
                <a:solidFill>
                  <a:srgbClr val="404040"/>
                </a:solidFill>
                <a:latin typeface="DeepSeek-CJK-patch"/>
              </a:rPr>
              <a:t>ocean_proximity_INLAND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: -0.48</a:t>
            </a:r>
          </a:p>
          <a:p>
            <a:pPr lvl="1"/>
            <a:r>
              <a:rPr lang="en-US" sz="2000" dirty="0">
                <a:solidFill>
                  <a:srgbClr val="404040"/>
                </a:solidFill>
                <a:latin typeface="DeepSeek-CJK-patch"/>
              </a:rPr>
              <a:t>Inland locations correlate with lower prices.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7F82FD-642A-D96C-8966-A2CDB1556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872223"/>
              </p:ext>
            </p:extLst>
          </p:nvPr>
        </p:nvGraphicFramePr>
        <p:xfrm>
          <a:off x="2100697" y="4173854"/>
          <a:ext cx="5671703" cy="26250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2125">
                  <a:extLst>
                    <a:ext uri="{9D8B030D-6E8A-4147-A177-3AD203B41FA5}">
                      <a16:colId xmlns:a16="http://schemas.microsoft.com/office/drawing/2014/main" val="2911144068"/>
                    </a:ext>
                  </a:extLst>
                </a:gridCol>
                <a:gridCol w="2339578">
                  <a:extLst>
                    <a:ext uri="{9D8B030D-6E8A-4147-A177-3AD203B41FA5}">
                      <a16:colId xmlns:a16="http://schemas.microsoft.com/office/drawing/2014/main" val="3232638977"/>
                    </a:ext>
                  </a:extLst>
                </a:gridCol>
              </a:tblGrid>
              <a:tr h="1785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Feature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Correlation with Target: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6897114"/>
                  </a:ext>
                </a:extLst>
              </a:tr>
              <a:tr h="171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median_house_value</a:t>
                      </a:r>
                      <a:r>
                        <a:rPr lang="en-US" sz="1100" u="none" strike="noStrike" dirty="0">
                          <a:effectLst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18768285"/>
                  </a:ext>
                </a:extLst>
              </a:tr>
              <a:tr h="171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median_income</a:t>
                      </a:r>
                      <a:r>
                        <a:rPr lang="en-US" sz="1100" u="none" strike="noStrike" dirty="0">
                          <a:effectLst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0.688075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7264248"/>
                  </a:ext>
                </a:extLst>
              </a:tr>
              <a:tr h="171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ocean_proximity</a:t>
                      </a:r>
                      <a:r>
                        <a:rPr lang="en-US" sz="1100" u="none" strike="noStrike" dirty="0">
                          <a:effectLst/>
                        </a:rPr>
                        <a:t>_&lt;1H OCEAN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0.256617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11127297"/>
                  </a:ext>
                </a:extLst>
              </a:tr>
              <a:tr h="171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ocean_proximity_NEAR</a:t>
                      </a:r>
                      <a:r>
                        <a:rPr lang="en-US" sz="1100" u="none" strike="noStrike" dirty="0">
                          <a:effectLst/>
                        </a:rPr>
                        <a:t> BAY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0.160284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59461618"/>
                  </a:ext>
                </a:extLst>
              </a:tr>
              <a:tr h="171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ocean_proximity_NEAR OCEAN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0.141862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72321569"/>
                  </a:ext>
                </a:extLst>
              </a:tr>
              <a:tr h="171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total_rooms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0.134153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66106911"/>
                  </a:ext>
                </a:extLst>
              </a:tr>
              <a:tr h="171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housing_median_age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0.105623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01638558"/>
                  </a:ext>
                </a:extLst>
              </a:tr>
              <a:tr h="171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households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0.065843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75291765"/>
                  </a:ext>
                </a:extLst>
              </a:tr>
              <a:tr h="171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total_bedrooms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0.049686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01211359"/>
                  </a:ext>
                </a:extLst>
              </a:tr>
              <a:tr h="171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ocean_proximity_ISLAND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0.023416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82903386"/>
                  </a:ext>
                </a:extLst>
              </a:tr>
              <a:tr h="171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population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-0.02465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8927849"/>
                  </a:ext>
                </a:extLst>
              </a:tr>
              <a:tr h="171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longitude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-0.045967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68904547"/>
                  </a:ext>
                </a:extLst>
              </a:tr>
              <a:tr h="171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latitude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-0.14416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50311733"/>
                  </a:ext>
                </a:extLst>
              </a:tr>
              <a:tr h="171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ocean_proximity_INLAND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-0.484859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9985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113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D2DEC-7795-EEB7-E021-85A7AAF2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D48FE-2D2C-3B8B-2213-E15CA5F95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277746"/>
            <a:ext cx="8911687" cy="1020540"/>
          </a:xfrm>
        </p:spPr>
        <p:txBody>
          <a:bodyPr/>
          <a:lstStyle/>
          <a:p>
            <a:r>
              <a:rPr lang="en-US" dirty="0"/>
              <a:t>Performance Metric MAE and MSE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67DD3-CB03-B14B-D76F-CE8ED9EFC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350" y="1177636"/>
            <a:ext cx="9466262" cy="4987637"/>
          </a:xfrm>
        </p:spPr>
        <p:txBody>
          <a:bodyPr>
            <a:normAutofit/>
          </a:bodyPr>
          <a:lstStyle/>
          <a:p>
            <a:r>
              <a:rPr lang="en-US" sz="2000" b="1" dirty="0"/>
              <a:t>Mean Absolute Error : 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DeepSeek-CJK-patch"/>
              </a:rPr>
              <a:t>Average of absolute differences between predicted and actual values</a:t>
            </a:r>
          </a:p>
          <a:p>
            <a:pPr lvl="1"/>
            <a:r>
              <a:rPr lang="en-US" sz="2000" b="1" i="0" dirty="0">
                <a:solidFill>
                  <a:srgbClr val="404040"/>
                </a:solidFill>
                <a:effectLst/>
                <a:latin typeface="DeepSeek-CJK-patch"/>
              </a:rPr>
              <a:t>Easy to Interpret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DeepSeek-CJK-patch"/>
              </a:rPr>
              <a:t>: Directly represents average error in the target’s units</a:t>
            </a:r>
          </a:p>
          <a:p>
            <a:pPr lvl="1"/>
            <a:r>
              <a:rPr lang="en-US" sz="2000" b="1" i="0" dirty="0">
                <a:solidFill>
                  <a:srgbClr val="404040"/>
                </a:solidFill>
                <a:effectLst/>
                <a:latin typeface="DeepSeek-CJK-patch"/>
              </a:rPr>
              <a:t>Robust to Outliers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DeepSeek-CJK-patch"/>
              </a:rPr>
              <a:t>: Less sensitive to extreme errors</a:t>
            </a:r>
            <a:endParaRPr lang="en-US" sz="2000" dirty="0">
              <a:solidFill>
                <a:srgbClr val="404040"/>
              </a:solidFill>
              <a:latin typeface="DeepSeek-CJK-patch"/>
            </a:endParaRPr>
          </a:p>
          <a:p>
            <a:pPr lvl="1"/>
            <a:r>
              <a:rPr lang="en-US" sz="2000" b="1" i="0" dirty="0">
                <a:solidFill>
                  <a:srgbClr val="404040"/>
                </a:solidFill>
                <a:effectLst/>
                <a:latin typeface="DeepSeek-CJK-patch"/>
              </a:rPr>
              <a:t>Ignores Error Severity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DeepSeek-CJK-patch"/>
              </a:rPr>
              <a:t>: Treats large and small errors equally</a:t>
            </a:r>
            <a:endParaRPr lang="en-US" sz="18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en-US" sz="2000" b="1" dirty="0"/>
              <a:t>Mean Squared Error: 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DeepSeek-CJK-patch"/>
              </a:rPr>
              <a:t>Average of squared differences between predicted and actual values.</a:t>
            </a:r>
          </a:p>
          <a:p>
            <a:pPr lvl="1"/>
            <a:r>
              <a:rPr lang="en-US" sz="2000" b="1" dirty="0">
                <a:solidFill>
                  <a:srgbClr val="404040"/>
                </a:solidFill>
                <a:latin typeface="DeepSeek-CJK-patch"/>
              </a:rPr>
              <a:t>Penalizes Large Errors: 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Highlights severe mistakes </a:t>
            </a:r>
          </a:p>
          <a:p>
            <a:pPr lvl="1"/>
            <a:r>
              <a:rPr lang="en-US" sz="2000" b="1" dirty="0">
                <a:solidFill>
                  <a:srgbClr val="404040"/>
                </a:solidFill>
                <a:latin typeface="DeepSeek-CJK-patch"/>
              </a:rPr>
              <a:t>Hard to Interpret: 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Squared units (e.g., dollars²) lack intuitive meaning.</a:t>
            </a:r>
          </a:p>
          <a:p>
            <a:pPr lvl="1"/>
            <a:r>
              <a:rPr lang="en-US" sz="2000" b="1" dirty="0">
                <a:solidFill>
                  <a:srgbClr val="404040"/>
                </a:solidFill>
                <a:latin typeface="DeepSeek-CJK-patch"/>
              </a:rPr>
              <a:t>Outlier Sensitivity</a:t>
            </a:r>
            <a:r>
              <a:rPr lang="en-US" sz="2400" b="0" i="0" dirty="0">
                <a:solidFill>
                  <a:srgbClr val="404040"/>
                </a:solidFill>
                <a:effectLst/>
                <a:latin typeface="DeepSeek-CJK-patch"/>
              </a:rPr>
              <a:t>: 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Overemphasizes rare, extreme errors (e.g., skewed by a few poor predictions).</a:t>
            </a:r>
          </a:p>
        </p:txBody>
      </p:sp>
    </p:spTree>
    <p:extLst>
      <p:ext uri="{BB962C8B-B14F-4D97-AF65-F5344CB8AC3E}">
        <p14:creationId xmlns:p14="http://schemas.microsoft.com/office/powerpoint/2010/main" val="387203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12D8E-651E-93C5-E98A-253ED5A01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6621C-1240-7DC8-2A8C-6EDF1A4B2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277746"/>
            <a:ext cx="8911687" cy="1020540"/>
          </a:xfrm>
        </p:spPr>
        <p:txBody>
          <a:bodyPr/>
          <a:lstStyle/>
          <a:p>
            <a:pPr algn="l"/>
            <a:r>
              <a:rPr lang="en-US" dirty="0"/>
              <a:t>Algorithms &amp; 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F3444-D78D-BD60-95E9-A29E3AB0D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350" y="1177636"/>
            <a:ext cx="9466262" cy="5223164"/>
          </a:xfrm>
        </p:spPr>
        <p:txBody>
          <a:bodyPr>
            <a:normAutofit/>
          </a:bodyPr>
          <a:lstStyle/>
          <a:p>
            <a:r>
              <a:rPr lang="en-US" sz="2000" b="1" dirty="0"/>
              <a:t>Linear Models:</a:t>
            </a:r>
          </a:p>
          <a:p>
            <a:pPr lvl="1"/>
            <a:r>
              <a:rPr lang="en-US" sz="2000" b="1" dirty="0">
                <a:solidFill>
                  <a:srgbClr val="404040"/>
                </a:solidFill>
                <a:latin typeface="DeepSeek-CJK-patch"/>
              </a:rPr>
              <a:t>Simple Linear Regression 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is a statistical method used to model the relationship between two variables: </a:t>
            </a:r>
            <a:r>
              <a:rPr lang="es-ES" sz="2000" b="1" dirty="0">
                <a:solidFill>
                  <a:srgbClr val="404040"/>
                </a:solidFill>
                <a:latin typeface="DeepSeek-CJK-patch"/>
              </a:rPr>
              <a:t>Y=β0​+β1​</a:t>
            </a:r>
            <a:r>
              <a:rPr lang="es-ES" sz="2000" b="1" dirty="0" err="1">
                <a:solidFill>
                  <a:srgbClr val="404040"/>
                </a:solidFill>
                <a:latin typeface="DeepSeek-CJK-patch"/>
              </a:rPr>
              <a:t>X+ε</a:t>
            </a:r>
            <a:endParaRPr lang="en-US" sz="2000" b="1" dirty="0">
              <a:solidFill>
                <a:srgbClr val="404040"/>
              </a:solidFill>
              <a:latin typeface="DeepSeek-CJK-patch"/>
            </a:endParaRPr>
          </a:p>
          <a:p>
            <a:pPr lvl="2"/>
            <a:r>
              <a:rPr lang="en-US" sz="1800" dirty="0">
                <a:solidFill>
                  <a:srgbClr val="404040"/>
                </a:solidFill>
                <a:latin typeface="DeepSeek-CJK-patch"/>
              </a:rPr>
              <a:t>One independent variable (X) – the predictor or input.</a:t>
            </a:r>
          </a:p>
          <a:p>
            <a:pPr lvl="2"/>
            <a:r>
              <a:rPr lang="en-US" sz="1800" dirty="0">
                <a:solidFill>
                  <a:srgbClr val="404040"/>
                </a:solidFill>
                <a:latin typeface="DeepSeek-CJK-patch"/>
              </a:rPr>
              <a:t>One dependent variable (Y) – the outcome or target</a:t>
            </a:r>
          </a:p>
          <a:p>
            <a:pPr lvl="1"/>
            <a:r>
              <a:rPr lang="en-US" sz="1800" b="1" dirty="0"/>
              <a:t>Lasso Regression 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adds an </a:t>
            </a:r>
            <a:r>
              <a:rPr lang="en-US" sz="2000" b="1" dirty="0">
                <a:solidFill>
                  <a:srgbClr val="404040"/>
                </a:solidFill>
                <a:latin typeface="DeepSeek-CJK-patch"/>
              </a:rPr>
              <a:t>L1 regularization </a:t>
            </a:r>
            <a:r>
              <a:rPr lang="en-US" sz="2000" dirty="0">
                <a:solidFill>
                  <a:srgbClr val="404040"/>
                </a:solidFill>
                <a:latin typeface="DeepSeek-CJK-patch"/>
              </a:rPr>
              <a:t>penalty which helps reduce model complexity and performs feature selection by shrinking some coefficients to zero</a:t>
            </a:r>
          </a:p>
          <a:p>
            <a:pPr lvl="2"/>
            <a:r>
              <a:rPr lang="en-US" sz="1600" b="1" dirty="0"/>
              <a:t>Best alpha=100 (Lasso)</a:t>
            </a:r>
            <a:endParaRPr lang="en-US" sz="1600" dirty="0"/>
          </a:p>
          <a:p>
            <a:pPr lvl="1"/>
            <a:r>
              <a:rPr lang="en-US" sz="1800" b="1" dirty="0"/>
              <a:t>Ridge Regression </a:t>
            </a:r>
            <a:r>
              <a:rPr lang="en-US" sz="1800" b="0" i="0" u="none" strike="noStrike" baseline="0" dirty="0">
                <a:latin typeface="NimbusSanL-Regu"/>
              </a:rPr>
              <a:t>adds an </a:t>
            </a:r>
            <a:r>
              <a:rPr lang="en-US" sz="1800" b="1" i="0" u="none" strike="noStrike" baseline="0" dirty="0">
                <a:latin typeface="NimbusSanL-Bold"/>
              </a:rPr>
              <a:t>L2 regularization </a:t>
            </a:r>
            <a:r>
              <a:rPr lang="en-US" sz="1800" b="0" i="0" u="none" strike="noStrike" baseline="0" dirty="0">
                <a:latin typeface="NimbusSanL-Regu"/>
              </a:rPr>
              <a:t>penalty which reduces coefficient size but does not set any of them exactly to zero.</a:t>
            </a:r>
          </a:p>
          <a:p>
            <a:pPr lvl="2"/>
            <a:r>
              <a:rPr lang="en-US" sz="1600" b="1" dirty="0"/>
              <a:t>Best alpha= 10 (Ridge)</a:t>
            </a:r>
          </a:p>
          <a:p>
            <a:pPr algn="l"/>
            <a:r>
              <a:rPr lang="en-US" sz="1800" b="1" dirty="0" err="1"/>
              <a:t>ElasticNet</a:t>
            </a:r>
            <a:r>
              <a:rPr lang="en-US" sz="1800" b="1" dirty="0"/>
              <a:t> Regression </a:t>
            </a:r>
            <a:r>
              <a:rPr lang="en-US" sz="1800" b="0" i="0" u="none" strike="noStrike" baseline="0" dirty="0">
                <a:latin typeface="NimbusSanL-Regu"/>
              </a:rPr>
              <a:t>combines both </a:t>
            </a:r>
            <a:r>
              <a:rPr lang="en-US" sz="1800" b="1" i="0" u="none" strike="noStrike" baseline="0" dirty="0">
                <a:latin typeface="NimbusSanL-Bold"/>
              </a:rPr>
              <a:t>L1 and L2 regularization </a:t>
            </a:r>
            <a:r>
              <a:rPr lang="en-US" sz="1800" b="0" i="0" u="none" strike="noStrike" baseline="0" dirty="0">
                <a:latin typeface="NimbusSanL-Regu"/>
              </a:rPr>
              <a:t>penalties, balancing feature selection (L1) and coefficient shrinkage (L2)</a:t>
            </a:r>
          </a:p>
          <a:p>
            <a:pPr lvl="1"/>
            <a:r>
              <a:rPr lang="fi-FI" b="1" dirty="0"/>
              <a:t>alpha=0.1, l1_ratio=0.5</a:t>
            </a:r>
          </a:p>
        </p:txBody>
      </p:sp>
    </p:spTree>
    <p:extLst>
      <p:ext uri="{BB962C8B-B14F-4D97-AF65-F5344CB8AC3E}">
        <p14:creationId xmlns:p14="http://schemas.microsoft.com/office/powerpoint/2010/main" val="2273162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40316-7811-0B8C-D376-DF3048C0F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EE905-E451-1C8F-0C53-C9B51ADE5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277746"/>
            <a:ext cx="8911687" cy="1020540"/>
          </a:xfrm>
        </p:spPr>
        <p:txBody>
          <a:bodyPr/>
          <a:lstStyle/>
          <a:p>
            <a:pPr algn="l"/>
            <a:r>
              <a:rPr lang="en-US" dirty="0"/>
              <a:t>Algorithms &amp; 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C0C9E-6748-7B00-DADE-2E38897C4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350" y="1177636"/>
            <a:ext cx="9466262" cy="5223164"/>
          </a:xfrm>
        </p:spPr>
        <p:txBody>
          <a:bodyPr>
            <a:normAutofit/>
          </a:bodyPr>
          <a:lstStyle/>
          <a:p>
            <a:r>
              <a:rPr lang="en-US" sz="2000" b="1" dirty="0"/>
              <a:t>Gradient Boosting (GBR):</a:t>
            </a:r>
          </a:p>
          <a:p>
            <a:pPr lvl="1"/>
            <a:r>
              <a:rPr lang="en-US" sz="1800" dirty="0" err="1">
                <a:solidFill>
                  <a:srgbClr val="404040"/>
                </a:solidFill>
                <a:latin typeface="DeepSeek-CJK-patch"/>
              </a:rPr>
              <a:t>GridSearchCV</a:t>
            </a:r>
            <a:r>
              <a:rPr lang="en-US" sz="1800" dirty="0">
                <a:solidFill>
                  <a:srgbClr val="404040"/>
                </a:solidFill>
                <a:latin typeface="DeepSeek-CJK-patch"/>
              </a:rPr>
              <a:t>: </a:t>
            </a:r>
            <a:r>
              <a:rPr lang="en-US" sz="1800" dirty="0" err="1">
                <a:solidFill>
                  <a:srgbClr val="404040"/>
                </a:solidFill>
                <a:latin typeface="DeepSeek-CJK-patch"/>
              </a:rPr>
              <a:t>n_estimators</a:t>
            </a:r>
            <a:r>
              <a:rPr lang="en-US" sz="1800" dirty="0">
                <a:solidFill>
                  <a:srgbClr val="404040"/>
                </a:solidFill>
                <a:latin typeface="DeepSeek-CJK-patch"/>
              </a:rPr>
              <a:t>=300, </a:t>
            </a:r>
            <a:r>
              <a:rPr lang="en-US" sz="1800" dirty="0" err="1">
                <a:solidFill>
                  <a:srgbClr val="404040"/>
                </a:solidFill>
                <a:latin typeface="DeepSeek-CJK-patch"/>
              </a:rPr>
              <a:t>learning_rate</a:t>
            </a:r>
            <a:r>
              <a:rPr lang="en-US" sz="1800" dirty="0">
                <a:solidFill>
                  <a:srgbClr val="404040"/>
                </a:solidFill>
                <a:latin typeface="DeepSeek-CJK-patch"/>
              </a:rPr>
              <a:t>=0.1, </a:t>
            </a:r>
            <a:r>
              <a:rPr lang="en-US" sz="1800" dirty="0" err="1">
                <a:solidFill>
                  <a:srgbClr val="404040"/>
                </a:solidFill>
                <a:latin typeface="DeepSeek-CJK-patch"/>
              </a:rPr>
              <a:t>max_depth</a:t>
            </a:r>
            <a:r>
              <a:rPr lang="en-US" sz="1800" dirty="0">
                <a:solidFill>
                  <a:srgbClr val="404040"/>
                </a:solidFill>
                <a:latin typeface="DeepSeek-CJK-patch"/>
              </a:rPr>
              <a:t>=5.</a:t>
            </a:r>
          </a:p>
          <a:p>
            <a:pPr lvl="1"/>
            <a:r>
              <a:rPr lang="en-US" sz="1800" dirty="0">
                <a:solidFill>
                  <a:srgbClr val="404040"/>
                </a:solidFill>
                <a:latin typeface="DeepSeek-CJK-patch"/>
              </a:rPr>
              <a:t>Grid Search to 27 combination</a:t>
            </a:r>
          </a:p>
          <a:p>
            <a:pPr lvl="1"/>
            <a:r>
              <a:rPr lang="en-US" sz="1800" dirty="0">
                <a:solidFill>
                  <a:srgbClr val="404040"/>
                </a:solidFill>
                <a:latin typeface="DeepSeek-CJK-patch"/>
              </a:rPr>
              <a:t>K Fold cv = 5</a:t>
            </a:r>
          </a:p>
          <a:p>
            <a:endParaRPr lang="en-US" sz="2000" b="1" dirty="0"/>
          </a:p>
          <a:p>
            <a:r>
              <a:rPr lang="en-US" sz="2000" b="1" dirty="0" err="1"/>
              <a:t>MLPRegressor</a:t>
            </a:r>
            <a:r>
              <a:rPr lang="en-US" sz="2000" b="1" dirty="0"/>
              <a:t>:</a:t>
            </a:r>
          </a:p>
          <a:p>
            <a:pPr lvl="1"/>
            <a:r>
              <a:rPr lang="en-US" sz="1800" dirty="0">
                <a:solidFill>
                  <a:srgbClr val="404040"/>
                </a:solidFill>
                <a:latin typeface="DeepSeek-CJK-patch"/>
              </a:rPr>
              <a:t>Complex pattern unstructured data</a:t>
            </a:r>
          </a:p>
          <a:p>
            <a:pPr lvl="1"/>
            <a:r>
              <a:rPr lang="en-US" sz="1800" dirty="0">
                <a:solidFill>
                  <a:srgbClr val="404040"/>
                </a:solidFill>
                <a:latin typeface="DeepSeek-CJK-patch"/>
              </a:rPr>
              <a:t>Architecture: 2 hidden layers (10, 5 neurons). Max iter = 5000</a:t>
            </a:r>
          </a:p>
          <a:p>
            <a:endParaRPr lang="en-US" sz="2000" b="1" dirty="0"/>
          </a:p>
          <a:p>
            <a:r>
              <a:rPr lang="en-US" sz="2000" b="1" dirty="0"/>
              <a:t>SVR:</a:t>
            </a:r>
          </a:p>
          <a:p>
            <a:pPr lvl="1"/>
            <a:r>
              <a:rPr lang="en-US" sz="1800" dirty="0">
                <a:solidFill>
                  <a:srgbClr val="404040"/>
                </a:solidFill>
                <a:latin typeface="DeepSeek-CJK-patch"/>
              </a:rPr>
              <a:t>kernel=linear, C=100, epsilon=0.1</a:t>
            </a:r>
            <a:endParaRPr lang="fi-FI" sz="1800" dirty="0">
              <a:solidFill>
                <a:srgbClr val="404040"/>
              </a:solidFill>
              <a:latin typeface="DeepSeek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86009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C947A-911A-FD7F-4B3A-A3E1FC7C2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DFF-6F95-A120-14AE-97DFC81D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277746"/>
            <a:ext cx="8911687" cy="1020540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Model Performance Comparison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7E8B9-0900-07FF-CF42-81BBCC605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350" y="1177636"/>
            <a:ext cx="9466262" cy="5223164"/>
          </a:xfrm>
        </p:spPr>
        <p:txBody>
          <a:bodyPr>
            <a:normAutofit/>
          </a:bodyPr>
          <a:lstStyle/>
          <a:p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06D270-85E0-BF06-8A30-28E7483E3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64" y="3186545"/>
            <a:ext cx="6428509" cy="3545743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6F3C8F-FC85-2C35-94EE-131C7CF42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26116"/>
              </p:ext>
            </p:extLst>
          </p:nvPr>
        </p:nvGraphicFramePr>
        <p:xfrm>
          <a:off x="7957704" y="3887643"/>
          <a:ext cx="3771900" cy="2090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97100">
                  <a:extLst>
                    <a:ext uri="{9D8B030D-6E8A-4147-A177-3AD203B41FA5}">
                      <a16:colId xmlns:a16="http://schemas.microsoft.com/office/drawing/2014/main" val="30480722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937080289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956261467"/>
                    </a:ext>
                  </a:extLst>
                </a:gridCol>
              </a:tblGrid>
              <a:tr h="2349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Model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MAE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MSE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extLst>
                  <a:ext uri="{0D108BD9-81ED-4DB2-BD59-A6C34878D82A}">
                    <a16:rowId xmlns:a16="http://schemas.microsoft.com/office/drawing/2014/main" val="3677655385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Gradient Boosting (GBR)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31,709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2.28×10⁹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extLst>
                  <a:ext uri="{0D108BD9-81ED-4DB2-BD59-A6C34878D82A}">
                    <a16:rowId xmlns:a16="http://schemas.microsoft.com/office/drawing/2014/main" val="1993568655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MLP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48,249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4.47×10⁹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extLst>
                  <a:ext uri="{0D108BD9-81ED-4DB2-BD59-A6C34878D82A}">
                    <a16:rowId xmlns:a16="http://schemas.microsoft.com/office/drawing/2014/main" val="1853180166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Linear Regression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50,413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4.80×10⁹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extLst>
                  <a:ext uri="{0D108BD9-81ED-4DB2-BD59-A6C34878D82A}">
                    <a16:rowId xmlns:a16="http://schemas.microsoft.com/office/drawing/2014/main" val="1883749679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ElasticNet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50,452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4.81×10⁹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extLst>
                  <a:ext uri="{0D108BD9-81ED-4DB2-BD59-A6C34878D82A}">
                    <a16:rowId xmlns:a16="http://schemas.microsoft.com/office/drawing/2014/main" val="2970350677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Ridge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51,232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5.01×10⁹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extLst>
                  <a:ext uri="{0D108BD9-81ED-4DB2-BD59-A6C34878D82A}">
                    <a16:rowId xmlns:a16="http://schemas.microsoft.com/office/drawing/2014/main" val="1699379969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Lasso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51,257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5.02×10⁹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extLst>
                  <a:ext uri="{0D108BD9-81ED-4DB2-BD59-A6C34878D82A}">
                    <a16:rowId xmlns:a16="http://schemas.microsoft.com/office/drawing/2014/main" val="1314085060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Support Vector Regression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49,232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5.02×10⁹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9525" marB="9525" anchor="ctr"/>
                </a:tc>
                <a:extLst>
                  <a:ext uri="{0D108BD9-81ED-4DB2-BD59-A6C34878D82A}">
                    <a16:rowId xmlns:a16="http://schemas.microsoft.com/office/drawing/2014/main" val="645820421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5F96E29-714B-6BAB-8E30-040C64212F4F}"/>
              </a:ext>
            </a:extLst>
          </p:cNvPr>
          <p:cNvSpPr txBox="1">
            <a:spLocks/>
          </p:cNvSpPr>
          <p:nvPr/>
        </p:nvSpPr>
        <p:spPr>
          <a:xfrm>
            <a:off x="2190750" y="1330036"/>
            <a:ext cx="9466262" cy="5223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Gradient Boosting (GBR): </a:t>
            </a:r>
            <a:r>
              <a:rPr lang="en-US" sz="2000" b="0" i="0" dirty="0">
                <a:solidFill>
                  <a:srgbClr val="404040"/>
                </a:solidFill>
                <a:effectLst/>
                <a:latin typeface="DeepSeek-CJK-patch"/>
              </a:rPr>
              <a:t>GBR outperforms others due to non-linear pattern capture and tuning.</a:t>
            </a:r>
          </a:p>
          <a:p>
            <a:pPr marL="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26370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B37B6-8B24-CE9C-E964-4BA1EC351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7C1CC-C2DA-4419-1F84-5FB98D391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277746"/>
            <a:ext cx="8911687" cy="1020540"/>
          </a:xfrm>
        </p:spPr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Actual vs. Predicted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94BDA-9BE3-9EA7-A097-A2C634D0F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350" y="1177636"/>
            <a:ext cx="9466262" cy="5223164"/>
          </a:xfrm>
        </p:spPr>
        <p:txBody>
          <a:bodyPr>
            <a:normAutofit/>
          </a:bodyPr>
          <a:lstStyle/>
          <a:p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80E63ED-EB9F-24FC-DB0E-C3F6C22AA2A2}"/>
              </a:ext>
            </a:extLst>
          </p:cNvPr>
          <p:cNvSpPr txBox="1">
            <a:spLocks/>
          </p:cNvSpPr>
          <p:nvPr/>
        </p:nvSpPr>
        <p:spPr>
          <a:xfrm>
            <a:off x="2190750" y="1330036"/>
            <a:ext cx="9466262" cy="5223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Visual</a:t>
            </a: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: Scatter plots for GBR, Linear Regression, and SVR.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GBR</a:t>
            </a: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: Points cluster tightly around the red ideal line.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Linear Models</a:t>
            </a: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: Wider spread, higher deviation.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Takeaway</a:t>
            </a: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GBR’s predictions align closely with actual prices.</a:t>
            </a:r>
          </a:p>
          <a:p>
            <a:pPr marL="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9868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E2829-BA5B-7DB5-E6D2-982E95B43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CB67-28F4-9861-6C35-60047AE72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80896"/>
            <a:ext cx="8911687" cy="63954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Actual vs. Predicted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C34FC-3EFD-55FD-B5D7-76A1EB7DF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350" y="1177636"/>
            <a:ext cx="9466262" cy="5223164"/>
          </a:xfrm>
        </p:spPr>
        <p:txBody>
          <a:bodyPr>
            <a:normAutofit/>
          </a:bodyPr>
          <a:lstStyle/>
          <a:p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51065C6-8EB6-F699-5C9D-E4A772FCCCB1}"/>
              </a:ext>
            </a:extLst>
          </p:cNvPr>
          <p:cNvSpPr txBox="1">
            <a:spLocks/>
          </p:cNvSpPr>
          <p:nvPr/>
        </p:nvSpPr>
        <p:spPr>
          <a:xfrm>
            <a:off x="2190750" y="1330036"/>
            <a:ext cx="9466262" cy="5223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EFE7F3-B00B-B6F8-2E44-FE493B05E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36" y="561109"/>
            <a:ext cx="10099964" cy="629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499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CCA24-822C-E033-4E06-379DA674A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5636" y="1662545"/>
            <a:ext cx="4613563" cy="226278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1987880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137</TotalTime>
  <Words>698</Words>
  <Application>Microsoft Office PowerPoint</Application>
  <PresentationFormat>Widescreen</PresentationFormat>
  <Paragraphs>119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 Narrow</vt:lpstr>
      <vt:lpstr>Arial</vt:lpstr>
      <vt:lpstr>Calibri</vt:lpstr>
      <vt:lpstr>Century Gothic</vt:lpstr>
      <vt:lpstr>DeepSeek-CJK-patch</vt:lpstr>
      <vt:lpstr>NimbusSanL-Bold</vt:lpstr>
      <vt:lpstr>NimbusSanL-Regu</vt:lpstr>
      <vt:lpstr>Wingdings 3</vt:lpstr>
      <vt:lpstr>Wisp</vt:lpstr>
      <vt:lpstr>California Housing Price Prediction</vt:lpstr>
      <vt:lpstr>Introduction</vt:lpstr>
      <vt:lpstr>Data Preprocessing</vt:lpstr>
      <vt:lpstr>Correlation Matrix</vt:lpstr>
      <vt:lpstr>Performance Metric MAE and MSE</vt:lpstr>
      <vt:lpstr>Algorithms &amp; Hyperparameters</vt:lpstr>
      <vt:lpstr>Algorithms &amp; Hyperparameters</vt:lpstr>
      <vt:lpstr>Model Performance Comparison</vt:lpstr>
      <vt:lpstr>Actual vs. Predicted Values</vt:lpstr>
      <vt:lpstr>Actual vs. Predicted Values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Osama, Muhammad</dc:creator>
  <cp:lastModifiedBy>Osama, Muhammad</cp:lastModifiedBy>
  <cp:revision>14</cp:revision>
  <dcterms:created xsi:type="dcterms:W3CDTF">2025-04-06T01:58:03Z</dcterms:created>
  <dcterms:modified xsi:type="dcterms:W3CDTF">2025-04-14T14:33:13Z</dcterms:modified>
</cp:coreProperties>
</file>